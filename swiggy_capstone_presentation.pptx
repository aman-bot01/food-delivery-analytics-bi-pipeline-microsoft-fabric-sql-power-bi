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1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3A0D00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0"/>
            <a:ext cx="54864" cy="514350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502920"/>
            <a:ext cx="1737360" cy="1737360"/>
          </a:xfrm>
          <a:prstGeom prst="ellipse">
            <a:avLst/>
          </a:prstGeom>
          <a:solidFill>
            <a:srgbClr val="5A1200"/>
          </a:solidFill>
          <a:ln w="25400">
            <a:solidFill>
              <a:srgbClr val="E8601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850392"/>
            <a:ext cx="1042416" cy="10424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48716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290779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Amankumar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Bhatu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274320" y="391363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Analytics Track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74320" y="42519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160520" y="4572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4160520" y="126187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4160520" y="1993392"/>
            <a:ext cx="3200400" cy="36576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13" name="Shape 10"/>
          <p:cNvSpPr/>
          <p:nvPr/>
        </p:nvSpPr>
        <p:spPr>
          <a:xfrm>
            <a:off x="4160520" y="2139696"/>
            <a:ext cx="1508760" cy="347472"/>
          </a:xfrm>
          <a:prstGeom prst="rect">
            <a:avLst/>
          </a:prstGeom>
          <a:solidFill>
            <a:srgbClr val="5A1200"/>
          </a:solidFill>
          <a:ln w="19050">
            <a:solidFill>
              <a:srgbClr val="E8601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160520" y="213969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06440" y="2139696"/>
            <a:ext cx="1508760" cy="347472"/>
          </a:xfrm>
          <a:prstGeom prst="rect">
            <a:avLst/>
          </a:prstGeom>
          <a:solidFill>
            <a:srgbClr val="5A1200"/>
          </a:solidFill>
          <a:ln w="19050">
            <a:solidFill>
              <a:srgbClr val="E8601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806440" y="213969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452360" y="2139696"/>
            <a:ext cx="1508760" cy="347472"/>
          </a:xfrm>
          <a:prstGeom prst="rect">
            <a:avLst/>
          </a:prstGeom>
          <a:solidFill>
            <a:srgbClr val="5A1200"/>
          </a:solidFill>
          <a:ln w="19050">
            <a:solidFill>
              <a:srgbClr val="E8601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52360" y="213969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160520" y="2697480"/>
            <a:ext cx="1115568" cy="1188720"/>
          </a:xfrm>
          <a:prstGeom prst="rect">
            <a:avLst/>
          </a:prstGeom>
          <a:solidFill>
            <a:srgbClr val="4A0E00"/>
          </a:solidFill>
          <a:ln w="12700">
            <a:solidFill>
              <a:srgbClr val="7733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160520" y="276148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₹53M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160520" y="334670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B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349240" y="2697480"/>
            <a:ext cx="1115568" cy="1188720"/>
          </a:xfrm>
          <a:prstGeom prst="rect">
            <a:avLst/>
          </a:prstGeom>
          <a:solidFill>
            <a:srgbClr val="4A0E00"/>
          </a:solidFill>
          <a:ln w="12700">
            <a:solidFill>
              <a:srgbClr val="7733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349240" y="276148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197K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349240" y="334670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B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537960" y="2697480"/>
            <a:ext cx="1115568" cy="1188720"/>
          </a:xfrm>
          <a:prstGeom prst="rect">
            <a:avLst/>
          </a:prstGeom>
          <a:solidFill>
            <a:srgbClr val="4A0E00"/>
          </a:solidFill>
          <a:ln w="12700">
            <a:solidFill>
              <a:srgbClr val="7733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537960" y="276148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4.34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6537960" y="334670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B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726680" y="2697480"/>
            <a:ext cx="1115568" cy="1188720"/>
          </a:xfrm>
          <a:prstGeom prst="rect">
            <a:avLst/>
          </a:prstGeom>
          <a:solidFill>
            <a:srgbClr val="4A0E00"/>
          </a:solidFill>
          <a:ln w="12700">
            <a:solidFill>
              <a:srgbClr val="7733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726680" y="276148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726680" y="334670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B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160520" y="4187952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B7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 &amp; Analytics Pipeline on Microsoft Fabric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A0D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96012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A1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processes hundreds of thousands of food orders monthly — but had no structured way to answer the questions that drive business decisions.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719072"/>
            <a:ext cx="265176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E8C4B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19072"/>
            <a:ext cx="64008" cy="1353312"/>
          </a:xfrm>
          <a:prstGeom prst="rect">
            <a:avLst/>
          </a:prstGeom>
          <a:solidFill>
            <a:srgbClr val="E8601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84708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0392" y="181051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1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0624" y="2249424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raw CSVs with no single source of truth or unified storage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54680" y="1719072"/>
            <a:ext cx="265176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E8C4B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719072"/>
            <a:ext cx="64008" cy="1353312"/>
          </a:xfrm>
          <a:prstGeom prst="rect">
            <a:avLst/>
          </a:prstGeom>
          <a:solidFill>
            <a:srgbClr val="E8601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84" y="184708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30752" y="181051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1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Date Column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300984" y="2249424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 stored as text — time analysis completely impossible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035040" y="1719072"/>
            <a:ext cx="265176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E8C4B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1719072"/>
            <a:ext cx="64008" cy="1353312"/>
          </a:xfrm>
          <a:prstGeom prst="rect">
            <a:avLst/>
          </a:prstGeom>
          <a:solidFill>
            <a:srgbClr val="E8601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847088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11112" y="181051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1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Model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181344" y="2249424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disconnected — impossible to slice revenue by any dimension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1600200" y="3227832"/>
            <a:ext cx="265176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E8C4B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600200" y="3227832"/>
            <a:ext cx="64008" cy="1353312"/>
          </a:xfrm>
          <a:prstGeom prst="rect">
            <a:avLst/>
          </a:prstGeom>
          <a:solidFill>
            <a:srgbClr val="E8601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504" y="3355848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176272" y="331927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1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Reporting Layer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1746504" y="3758184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needed raw data access just to get one number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480560" y="3227832"/>
            <a:ext cx="265176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E8C4B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480560" y="3227832"/>
            <a:ext cx="64008" cy="1353312"/>
          </a:xfrm>
          <a:prstGeom prst="rect">
            <a:avLst/>
          </a:prstGeom>
          <a:solidFill>
            <a:srgbClr val="E8601C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864" y="3355848"/>
            <a:ext cx="347472" cy="34747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056632" y="331927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1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Dashboard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626864" y="3758184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locked in local files — nothing shareable with leadership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Amankumar Bhatu  |  Swiggy Analytics Capstone  |  Microsoft Fabric + SQL + Power BI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B1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A0D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Architecture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96012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Microsoft Fabric pipeline — from raw CSV to live Power BI dashboard.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1572768" cy="2377440"/>
          </a:xfrm>
          <a:prstGeom prst="rect">
            <a:avLst/>
          </a:prstGeom>
          <a:solidFill>
            <a:srgbClr val="5A1200"/>
          </a:solidFill>
          <a:ln w="12700">
            <a:solidFill>
              <a:srgbClr val="CC66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6459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21284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65760" y="2834640"/>
            <a:ext cx="1572768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Lakehouse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938528" y="257860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084832" y="1508760"/>
            <a:ext cx="1572768" cy="2377440"/>
          </a:xfrm>
          <a:prstGeom prst="rect">
            <a:avLst/>
          </a:prstGeom>
          <a:solidFill>
            <a:srgbClr val="7A2200"/>
          </a:solidFill>
          <a:ln w="12700">
            <a:solidFill>
              <a:srgbClr val="CC66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616" y="16459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84832" y="221284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084832" y="2834640"/>
            <a:ext cx="1572768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section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657600" y="257860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803904" y="1508760"/>
            <a:ext cx="1572768" cy="2377440"/>
          </a:xfrm>
          <a:prstGeom prst="rect">
            <a:avLst/>
          </a:prstGeom>
          <a:solidFill>
            <a:srgbClr val="8B3300"/>
          </a:solidFill>
          <a:ln w="12700">
            <a:solidFill>
              <a:srgbClr val="CC66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16459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03904" y="221284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Tables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3803904" y="2834640"/>
            <a:ext cx="1572768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tables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5376672" y="257860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522976" y="1508760"/>
            <a:ext cx="1572768" cy="2377440"/>
          </a:xfrm>
          <a:prstGeom prst="rect">
            <a:avLst/>
          </a:prstGeom>
          <a:solidFill>
            <a:srgbClr val="9B4400"/>
          </a:solidFill>
          <a:ln w="12700">
            <a:solidFill>
              <a:srgbClr val="CC66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64592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22976" y="221284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5522976" y="2834640"/>
            <a:ext cx="1572768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clean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7095744" y="257860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7242048" y="1508760"/>
            <a:ext cx="1572768" cy="2377440"/>
          </a:xfrm>
          <a:prstGeom prst="rect">
            <a:avLst/>
          </a:prstGeom>
          <a:solidFill>
            <a:srgbClr val="E8601C"/>
          </a:solidFill>
          <a:ln w="12700">
            <a:solidFill>
              <a:srgbClr val="CC66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32" y="1645920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242048" y="221284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7242048" y="2834640"/>
            <a:ext cx="1572768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31" name="Shape 24"/>
          <p:cNvSpPr/>
          <p:nvPr/>
        </p:nvSpPr>
        <p:spPr>
          <a:xfrm>
            <a:off x="0" y="4114800"/>
            <a:ext cx="9144000" cy="960120"/>
          </a:xfrm>
          <a:prstGeom prst="rect">
            <a:avLst/>
          </a:prstGeom>
          <a:solidFill>
            <a:srgbClr val="2A0700"/>
          </a:solidFill>
          <a:ln/>
        </p:spPr>
      </p:sp>
      <p:sp>
        <p:nvSpPr>
          <p:cNvPr id="32" name="Text 25"/>
          <p:cNvSpPr/>
          <p:nvPr/>
        </p:nvSpPr>
        <p:spPr>
          <a:xfrm>
            <a:off x="274320" y="42245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₹53.01M Revenue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1892808" y="4325112"/>
            <a:ext cx="36576" cy="274320"/>
          </a:xfrm>
          <a:prstGeom prst="rect">
            <a:avLst/>
          </a:prstGeom>
          <a:solidFill>
            <a:srgbClr val="553322"/>
          </a:solidFill>
          <a:ln/>
        </p:spPr>
      </p:sp>
      <p:sp>
        <p:nvSpPr>
          <p:cNvPr id="34" name="Text 27"/>
          <p:cNvSpPr/>
          <p:nvPr/>
        </p:nvSpPr>
        <p:spPr>
          <a:xfrm>
            <a:off x="2057400" y="42245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197,430 Orders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3675888" y="4325112"/>
            <a:ext cx="36576" cy="274320"/>
          </a:xfrm>
          <a:prstGeom prst="rect">
            <a:avLst/>
          </a:prstGeom>
          <a:solidFill>
            <a:srgbClr val="553322"/>
          </a:solidFill>
          <a:ln/>
        </p:spPr>
      </p:sp>
      <p:sp>
        <p:nvSpPr>
          <p:cNvPr id="36" name="Text 29"/>
          <p:cNvSpPr/>
          <p:nvPr/>
        </p:nvSpPr>
        <p:spPr>
          <a:xfrm>
            <a:off x="3840480" y="42245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₹268.51 Avg Order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5458968" y="4325112"/>
            <a:ext cx="36576" cy="274320"/>
          </a:xfrm>
          <a:prstGeom prst="rect">
            <a:avLst/>
          </a:prstGeom>
          <a:solidFill>
            <a:srgbClr val="553322"/>
          </a:solidFill>
          <a:ln/>
        </p:spPr>
      </p:sp>
      <p:sp>
        <p:nvSpPr>
          <p:cNvPr id="38" name="Text 31"/>
          <p:cNvSpPr/>
          <p:nvPr/>
        </p:nvSpPr>
        <p:spPr>
          <a:xfrm>
            <a:off x="5623560" y="42245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4.34 Avg Rating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7242048" y="4325112"/>
            <a:ext cx="36576" cy="274320"/>
          </a:xfrm>
          <a:prstGeom prst="rect">
            <a:avLst/>
          </a:prstGeom>
          <a:solidFill>
            <a:srgbClr val="553322"/>
          </a:solidFill>
          <a:ln/>
        </p:spPr>
      </p:sp>
      <p:sp>
        <p:nvSpPr>
          <p:cNvPr id="40" name="Text 33"/>
          <p:cNvSpPr/>
          <p:nvPr/>
        </p:nvSpPr>
        <p:spPr>
          <a:xfrm>
            <a:off x="7406640" y="42245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5.59M Ratings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9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Amankumar Bhatu  |  Swiggy Analytics Capstone  |  Microsoft Fabric + SQL + Power BI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A0D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Lakehouse &amp; Data Ingestion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96012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20624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img_workspa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98448"/>
            <a:ext cx="3474720" cy="2651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385876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 — Swiggy_Project Fabric workspace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754880" y="1170432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70432"/>
            <a:ext cx="64008" cy="749808"/>
          </a:xfrm>
          <a:prstGeom prst="rect">
            <a:avLst/>
          </a:prstGeom>
          <a:solidFill>
            <a:srgbClr val="6B1900"/>
          </a:solidFill>
          <a:ln/>
        </p:spPr>
      </p:sp>
      <p:sp>
        <p:nvSpPr>
          <p:cNvPr id="11" name="Text 8"/>
          <p:cNvSpPr/>
          <p:nvPr/>
        </p:nvSpPr>
        <p:spPr>
          <a:xfrm>
            <a:off x="4892040" y="12252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1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Swiggy_lw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92040" y="14996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[Lakehouse]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144768" y="1490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files + Delta tables (Bronze &amp; Silver layer)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754880" y="2039112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2039112"/>
            <a:ext cx="64008" cy="749808"/>
          </a:xfrm>
          <a:prstGeom prst="rect">
            <a:avLst/>
          </a:prstGeom>
          <a:solidFill>
            <a:srgbClr val="6B1900"/>
          </a:solidFill>
          <a:ln/>
        </p:spPr>
      </p:sp>
      <p:sp>
        <p:nvSpPr>
          <p:cNvPr id="16" name="Text 13"/>
          <p:cNvSpPr/>
          <p:nvPr/>
        </p:nvSpPr>
        <p:spPr>
          <a:xfrm>
            <a:off x="4892040" y="20939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1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swiggy_dw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892040" y="23682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[Warehouse]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144768" y="23591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— query-ready gold layer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754880" y="2907792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2907792"/>
            <a:ext cx="64008" cy="749808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21" name="Text 18"/>
          <p:cNvSpPr/>
          <p:nvPr/>
        </p:nvSpPr>
        <p:spPr>
          <a:xfrm>
            <a:off x="4892040" y="29626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1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pipeline_Load_Data_Files_to_Table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892040" y="32369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[Pipeline]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144768" y="32278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Delta table conversion inside Lakehouse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754880" y="3776472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54880" y="3776472"/>
            <a:ext cx="64008" cy="749808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26" name="Text 23"/>
          <p:cNvSpPr/>
          <p:nvPr/>
        </p:nvSpPr>
        <p:spPr>
          <a:xfrm>
            <a:off x="4892040" y="3831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1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pipeline_lw_to_dw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892040" y="41056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[Pipeline]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144768" y="40965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→ Warehouse migration (5 tables)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754880" y="4645152"/>
            <a:ext cx="1325880" cy="438912"/>
          </a:xfrm>
          <a:prstGeom prst="rect">
            <a:avLst/>
          </a:prstGeom>
          <a:solidFill>
            <a:srgbClr val="5A1200"/>
          </a:solidFill>
          <a:ln w="12700">
            <a:solidFill>
              <a:srgbClr val="CCAA8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54880" y="46451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4754880" y="48463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— raw CSVs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6172200" y="4645152"/>
            <a:ext cx="1325880" cy="438912"/>
          </a:xfrm>
          <a:prstGeom prst="rect">
            <a:avLst/>
          </a:prstGeom>
          <a:solidFill>
            <a:srgbClr val="A05500"/>
          </a:solidFill>
          <a:ln w="12700">
            <a:solidFill>
              <a:srgbClr val="CCAA8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72200" y="46451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172200" y="48463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/ Parquet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7589520" y="4645152"/>
            <a:ext cx="1325880" cy="438912"/>
          </a:xfrm>
          <a:prstGeom prst="rect">
            <a:avLst/>
          </a:prstGeom>
          <a:solidFill>
            <a:srgbClr val="6B1900"/>
          </a:solidFill>
          <a:ln w="12700">
            <a:solidFill>
              <a:srgbClr val="CCAA8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589520" y="46451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589520" y="48463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schema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Amankumar Bhatu  |  Swiggy Analytics Capstone  |  Microsoft Fabric + SQL + Power BI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A0D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Execution — Lakehouse to Warehouse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96012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img_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170432"/>
            <a:ext cx="8321040" cy="22677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356616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 — pipeline_lw_to_dw: all 5 Copy Data activities succeeded in under 40 seconds each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0040" y="3822192"/>
            <a:ext cx="8503920" cy="219456"/>
          </a:xfrm>
          <a:prstGeom prst="rect">
            <a:avLst/>
          </a:prstGeom>
          <a:solidFill>
            <a:srgbClr val="6B1900"/>
          </a:solidFill>
          <a:ln/>
        </p:spPr>
      </p:sp>
      <p:sp>
        <p:nvSpPr>
          <p:cNvPr id="10" name="Text 7"/>
          <p:cNvSpPr/>
          <p:nvPr/>
        </p:nvSpPr>
        <p:spPr>
          <a:xfrm>
            <a:off x="393192" y="384962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163824" y="3849624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010912" y="3849624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400800" y="3849624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0040" y="4041648"/>
            <a:ext cx="850392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393192" y="4069080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163824" y="4069080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Succeeded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010912" y="406908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400800" y="4069080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20040" y="4261104"/>
            <a:ext cx="8503920" cy="219456"/>
          </a:xfrm>
          <a:prstGeom prst="rect">
            <a:avLst/>
          </a:prstGeom>
          <a:solidFill>
            <a:srgbClr val="FFF0E8"/>
          </a:solidFill>
          <a:ln/>
        </p:spPr>
      </p:sp>
      <p:sp>
        <p:nvSpPr>
          <p:cNvPr id="20" name="Text 17"/>
          <p:cNvSpPr/>
          <p:nvPr/>
        </p:nvSpPr>
        <p:spPr>
          <a:xfrm>
            <a:off x="393192" y="4288536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1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dim_dish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163824" y="4288536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1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Succeeded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010912" y="428853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1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400800" y="4288536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1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8,891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20040" y="4480560"/>
            <a:ext cx="850392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393192" y="4507992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dim_location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163824" y="450799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Succeeded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010912" y="450799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39s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400800" y="4507992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995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040" y="4700016"/>
            <a:ext cx="8503920" cy="219456"/>
          </a:xfrm>
          <a:prstGeom prst="rect">
            <a:avLst/>
          </a:prstGeom>
          <a:solidFill>
            <a:srgbClr val="FFF0E8"/>
          </a:solidFill>
          <a:ln/>
        </p:spPr>
      </p:sp>
      <p:sp>
        <p:nvSpPr>
          <p:cNvPr id="30" name="Text 27"/>
          <p:cNvSpPr/>
          <p:nvPr/>
        </p:nvSpPr>
        <p:spPr>
          <a:xfrm>
            <a:off x="393192" y="4727448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1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dim_restaurant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3163824" y="4727448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1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Succeeded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010912" y="472744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1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38s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6400800" y="4727448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1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993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320040" y="4919472"/>
            <a:ext cx="850392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2"/>
          <p:cNvSpPr/>
          <p:nvPr/>
        </p:nvSpPr>
        <p:spPr>
          <a:xfrm>
            <a:off x="393192" y="494690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fact_orders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3163824" y="4946904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Succeeded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010912" y="4946904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40s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6400800" y="4946904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197,430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Amankumar Bhatu  |  Swiggy Analytics Capstone  |  Microsoft Fabric + SQL + Power BI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B1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A0D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— Star Schema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96012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46120" y="1737360"/>
            <a:ext cx="2651760" cy="2651760"/>
          </a:xfrm>
          <a:prstGeom prst="rect">
            <a:avLst/>
          </a:prstGeom>
          <a:solidFill>
            <a:srgbClr val="E8601C"/>
          </a:solidFill>
          <a:ln w="25400">
            <a:solidFill>
              <a:srgbClr val="FFB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46120" y="17830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2194560"/>
            <a:ext cx="2560320" cy="27432"/>
          </a:xfrm>
          <a:prstGeom prst="rect">
            <a:avLst/>
          </a:prstGeom>
          <a:solidFill>
            <a:srgbClr val="CC5500"/>
          </a:solidFill>
          <a:ln/>
        </p:spPr>
      </p:sp>
      <p:sp>
        <p:nvSpPr>
          <p:cNvPr id="9" name="Text 7"/>
          <p:cNvSpPr/>
          <p:nvPr/>
        </p:nvSpPr>
        <p:spPr>
          <a:xfrm>
            <a:off x="3364992" y="2286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(PK)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364992" y="26151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date_id (FK)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64992" y="29443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food_id (FK)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64992" y="32735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location_id (FK)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364992" y="36027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restaurant_id (FK)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64992" y="3931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 |  rating  |  rating_count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1508760"/>
            <a:ext cx="2423160" cy="1335024"/>
          </a:xfrm>
          <a:prstGeom prst="rect">
            <a:avLst/>
          </a:prstGeom>
          <a:solidFill>
            <a:srgbClr val="5A1200"/>
          </a:solidFill>
          <a:ln w="19050">
            <a:solidFill>
              <a:srgbClr val="AA55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15453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1856232"/>
            <a:ext cx="2331720" cy="22860"/>
          </a:xfrm>
          <a:prstGeom prst="rect">
            <a:avLst/>
          </a:prstGeom>
          <a:solidFill>
            <a:srgbClr val="773322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9110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date_id (PK)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" y="21671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242316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order_date_new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697480" y="2176272"/>
            <a:ext cx="548640" cy="0"/>
          </a:xfrm>
          <a:prstGeom prst="line">
            <a:avLst/>
          </a:prstGeom>
          <a:noFill/>
          <a:ln w="19050">
            <a:solidFill>
              <a:srgbClr val="E8601C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74320" y="3337560"/>
            <a:ext cx="2423160" cy="1335024"/>
          </a:xfrm>
          <a:prstGeom prst="rect">
            <a:avLst/>
          </a:prstGeom>
          <a:solidFill>
            <a:srgbClr val="5A1200"/>
          </a:solidFill>
          <a:ln w="19050">
            <a:solidFill>
              <a:srgbClr val="AA55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33741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dim_dish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685032"/>
            <a:ext cx="2331720" cy="22860"/>
          </a:xfrm>
          <a:prstGeom prst="rect">
            <a:avLst/>
          </a:prstGeom>
          <a:solidFill>
            <a:srgbClr val="773322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7398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dish_id (PK)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" y="39959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dish_name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" y="425196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697480" y="4005072"/>
            <a:ext cx="548640" cy="0"/>
          </a:xfrm>
          <a:prstGeom prst="line">
            <a:avLst/>
          </a:prstGeom>
          <a:noFill/>
          <a:ln w="19050">
            <a:solidFill>
              <a:srgbClr val="E8601C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400800" y="1508760"/>
            <a:ext cx="2423160" cy="1335024"/>
          </a:xfrm>
          <a:prstGeom prst="rect">
            <a:avLst/>
          </a:prstGeom>
          <a:solidFill>
            <a:srgbClr val="5A1200"/>
          </a:solidFill>
          <a:ln w="19050">
            <a:solidFill>
              <a:srgbClr val="AA55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0" y="15453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dim_location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46520" y="1856232"/>
            <a:ext cx="2331720" cy="22860"/>
          </a:xfrm>
          <a:prstGeom prst="rect">
            <a:avLst/>
          </a:prstGeom>
          <a:solidFill>
            <a:srgbClr val="773322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19110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location_id (PK)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92240" y="21671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92240" y="242316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00800" y="2176272"/>
            <a:ext cx="-502920" cy="0"/>
          </a:xfrm>
          <a:prstGeom prst="line">
            <a:avLst/>
          </a:prstGeom>
          <a:noFill/>
          <a:ln w="19050">
            <a:solidFill>
              <a:srgbClr val="E8601C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400800" y="3337560"/>
            <a:ext cx="2423160" cy="1042416"/>
          </a:xfrm>
          <a:prstGeom prst="rect">
            <a:avLst/>
          </a:prstGeom>
          <a:solidFill>
            <a:srgbClr val="5A1200"/>
          </a:solidFill>
          <a:ln w="19050">
            <a:solidFill>
              <a:srgbClr val="AA55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00800" y="33741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dim_restaurant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46520" y="3685032"/>
            <a:ext cx="2331720" cy="22860"/>
          </a:xfrm>
          <a:prstGeom prst="rect">
            <a:avLst/>
          </a:prstGeom>
          <a:solidFill>
            <a:srgbClr val="773322"/>
          </a:solidFill>
          <a:ln/>
        </p:spPr>
      </p:sp>
      <p:sp>
        <p:nvSpPr>
          <p:cNvPr id="39" name="Text 37"/>
          <p:cNvSpPr/>
          <p:nvPr/>
        </p:nvSpPr>
        <p:spPr>
          <a:xfrm>
            <a:off x="6492240" y="37398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restaurant_id (PK)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492240" y="39959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restaurant_name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00800" y="3858768"/>
            <a:ext cx="-502920" cy="0"/>
          </a:xfrm>
          <a:prstGeom prst="line">
            <a:avLst/>
          </a:prstGeom>
          <a:noFill/>
          <a:ln w="19050">
            <a:solidFill>
              <a:srgbClr val="E8601C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457200" y="48097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relationships  |  4 active joins in semantic model  |  Standard star schema pattern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9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Amankumar Bhatu  |  Swiggy Analytics Capstone  |  Microsoft Fabric + SQL + Power BI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A0D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SQL Data Cleaning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96012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14800" cy="347472"/>
          </a:xfrm>
          <a:prstGeom prst="rect">
            <a:avLst/>
          </a:prstGeom>
          <a:solidFill>
            <a:srgbClr val="FFE0C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Problem: order_date stored as STRING — time intelligence impossible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11480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Fix: ALTER TABLE + TRY_CONVERT(DATE, order_date, 5) — 0 NULLs confirmed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8503920" cy="2542032"/>
          </a:xfrm>
          <a:prstGeom prst="rect">
            <a:avLst/>
          </a:prstGeom>
          <a:solidFill>
            <a:srgbClr val="1E1E1E"/>
          </a:solidFill>
          <a:ln w="1905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/home/claude/img_sql_clean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581912"/>
            <a:ext cx="8321040" cy="23957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11480" y="408736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 — Fabric Warehouse: ALTER TABLE adds order_date_new; UPDATE + TRY_CONVERT(DATE, order_date, 5) populates it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57200" y="4370832"/>
            <a:ext cx="2651760" cy="685800"/>
          </a:xfrm>
          <a:prstGeom prst="rect">
            <a:avLst/>
          </a:prstGeom>
          <a:solidFill>
            <a:srgbClr val="6B1900"/>
          </a:solidFill>
          <a:ln w="12700">
            <a:solidFill>
              <a:srgbClr val="AA66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57200" y="439826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8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960120" y="4416552"/>
            <a:ext cx="27432" cy="566928"/>
          </a:xfrm>
          <a:prstGeom prst="rect">
            <a:avLst/>
          </a:prstGeom>
          <a:solidFill>
            <a:srgbClr val="AA6644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43982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51560" y="46451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E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order_date_new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E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DATE column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291840" y="4370832"/>
            <a:ext cx="2651760" cy="685800"/>
          </a:xfrm>
          <a:prstGeom prst="rect">
            <a:avLst/>
          </a:prstGeom>
          <a:solidFill>
            <a:srgbClr val="8B3300"/>
          </a:solidFill>
          <a:ln w="12700">
            <a:solidFill>
              <a:srgbClr val="AA66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291840" y="439826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8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3794760" y="4416552"/>
            <a:ext cx="27432" cy="566928"/>
          </a:xfrm>
          <a:prstGeom prst="rect">
            <a:avLst/>
          </a:prstGeom>
          <a:solidFill>
            <a:srgbClr val="AA6644"/>
          </a:solidFill>
          <a:ln/>
        </p:spPr>
      </p:sp>
      <p:sp>
        <p:nvSpPr>
          <p:cNvPr id="21" name="Text 18"/>
          <p:cNvSpPr/>
          <p:nvPr/>
        </p:nvSpPr>
        <p:spPr>
          <a:xfrm>
            <a:off x="3886200" y="43982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TRY_CONVERT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886200" y="46451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E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5 = dd-mm-yyyy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E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 rows converted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126480" y="4370832"/>
            <a:ext cx="2651760" cy="685800"/>
          </a:xfrm>
          <a:prstGeom prst="rect">
            <a:avLst/>
          </a:prstGeom>
          <a:solidFill>
            <a:srgbClr val="375623"/>
          </a:solidFill>
          <a:ln w="12700">
            <a:solidFill>
              <a:srgbClr val="AA66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126480" y="439826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8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6629400" y="4416552"/>
            <a:ext cx="27432" cy="566928"/>
          </a:xfrm>
          <a:prstGeom prst="rect">
            <a:avLst/>
          </a:prstGeom>
          <a:solidFill>
            <a:srgbClr val="AA6644"/>
          </a:solidFill>
          <a:ln/>
        </p:spPr>
      </p:sp>
      <p:sp>
        <p:nvSpPr>
          <p:cNvPr id="26" name="Text 23"/>
          <p:cNvSpPr/>
          <p:nvPr/>
        </p:nvSpPr>
        <p:spPr>
          <a:xfrm>
            <a:off x="6720840" y="43982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CHECK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720840" y="46451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E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rows returned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E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data integrity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Amankumar Bhatu  |  Swiggy Analytics Capstone  |  Microsoft Fabric + SQL + Power BI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A0D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 — Power BI Connected to Fabric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96012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530352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img_semant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188720"/>
            <a:ext cx="5120640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468172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 — Star schema with 4 active relationships published to Fabric workspace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870448" y="109728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1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Active Relationships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870448" y="1572768"/>
            <a:ext cx="2971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70448" y="1572768"/>
            <a:ext cx="64008" cy="68580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12" name="Text 9"/>
          <p:cNvSpPr/>
          <p:nvPr/>
        </p:nvSpPr>
        <p:spPr>
          <a:xfrm>
            <a:off x="5998464" y="1627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998464" y="1847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1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dim_date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98464" y="204825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date_id → date_id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8156448" y="1819656"/>
            <a:ext cx="640080" cy="201168"/>
          </a:xfrm>
          <a:prstGeom prst="rect">
            <a:avLst/>
          </a:prstGeom>
          <a:solidFill>
            <a:srgbClr val="FFE8D8"/>
          </a:solidFill>
          <a:ln w="6350">
            <a:solidFill>
              <a:srgbClr val="E8601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56448" y="18196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Many:One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5870448" y="2350008"/>
            <a:ext cx="2971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70448" y="2350008"/>
            <a:ext cx="64008" cy="68580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19" name="Text 16"/>
          <p:cNvSpPr/>
          <p:nvPr/>
        </p:nvSpPr>
        <p:spPr>
          <a:xfrm>
            <a:off x="5998464" y="24048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998464" y="26243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1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dim_dish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998464" y="282549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food_id → dish_id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8156448" y="2596896"/>
            <a:ext cx="640080" cy="201168"/>
          </a:xfrm>
          <a:prstGeom prst="rect">
            <a:avLst/>
          </a:prstGeom>
          <a:solidFill>
            <a:srgbClr val="FFE8D8"/>
          </a:solidFill>
          <a:ln w="6350">
            <a:solidFill>
              <a:srgbClr val="E8601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56448" y="2596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Many:One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5870448" y="3127248"/>
            <a:ext cx="2971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870448" y="3127248"/>
            <a:ext cx="64008" cy="68580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26" name="Text 23"/>
          <p:cNvSpPr/>
          <p:nvPr/>
        </p:nvSpPr>
        <p:spPr>
          <a:xfrm>
            <a:off x="5998464" y="31821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998464" y="34015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1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dim_location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998464" y="360273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location_id → location_id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8156448" y="3374136"/>
            <a:ext cx="640080" cy="201168"/>
          </a:xfrm>
          <a:prstGeom prst="rect">
            <a:avLst/>
          </a:prstGeom>
          <a:solidFill>
            <a:srgbClr val="FFE8D8"/>
          </a:solidFill>
          <a:ln w="6350">
            <a:solidFill>
              <a:srgbClr val="E8601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56448" y="33741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Many:One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870448" y="3904488"/>
            <a:ext cx="2971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870448" y="3904488"/>
            <a:ext cx="64008" cy="68580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33" name="Text 30"/>
          <p:cNvSpPr/>
          <p:nvPr/>
        </p:nvSpPr>
        <p:spPr>
          <a:xfrm>
            <a:off x="5998464" y="39593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fact_orders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998464" y="41788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1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dim_restaurant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998464" y="437997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restaurant_id → restaurant_id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8156448" y="4151376"/>
            <a:ext cx="640080" cy="201168"/>
          </a:xfrm>
          <a:prstGeom prst="rect">
            <a:avLst/>
          </a:prstGeom>
          <a:solidFill>
            <a:srgbClr val="FFE8D8"/>
          </a:solidFill>
          <a:ln w="6350">
            <a:solidFill>
              <a:srgbClr val="E8601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56448" y="415137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Many:One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5870448" y="468172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Connection: DirectQuery → Fabric Warehouse  |  Local model unlocks DAX column creation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Amankumar Bhatu  |  Swiggy Analytics Capstone  |  Microsoft Fabric + SQL + Power BI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02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Published to Fabric Workspace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96012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8503920" cy="3584448"/>
          </a:xfrm>
          <a:prstGeom prst="rect">
            <a:avLst/>
          </a:prstGeom>
          <a:solidFill>
            <a:srgbClr val="111111"/>
          </a:solidFill>
          <a:ln w="25400">
            <a:solidFill>
              <a:srgbClr val="E860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img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1097280"/>
            <a:ext cx="8366760" cy="34472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626864"/>
            <a:ext cx="9144000" cy="502920"/>
          </a:xfrm>
          <a:prstGeom prst="rect">
            <a:avLst/>
          </a:prstGeom>
          <a:solidFill>
            <a:srgbClr val="0A0200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465429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₹53.01M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4320" y="48646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9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1892808" y="4681728"/>
            <a:ext cx="36576" cy="310896"/>
          </a:xfrm>
          <a:prstGeom prst="rect">
            <a:avLst/>
          </a:prstGeom>
          <a:solidFill>
            <a:srgbClr val="331100"/>
          </a:solidFill>
          <a:ln/>
        </p:spPr>
      </p:sp>
      <p:sp>
        <p:nvSpPr>
          <p:cNvPr id="12" name="Text 9"/>
          <p:cNvSpPr/>
          <p:nvPr/>
        </p:nvSpPr>
        <p:spPr>
          <a:xfrm>
            <a:off x="2057400" y="465429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₹268.51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057400" y="48646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9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675888" y="4681728"/>
            <a:ext cx="36576" cy="310896"/>
          </a:xfrm>
          <a:prstGeom prst="rect">
            <a:avLst/>
          </a:prstGeom>
          <a:solidFill>
            <a:srgbClr val="331100"/>
          </a:solidFill>
          <a:ln/>
        </p:spPr>
      </p:sp>
      <p:sp>
        <p:nvSpPr>
          <p:cNvPr id="15" name="Text 12"/>
          <p:cNvSpPr/>
          <p:nvPr/>
        </p:nvSpPr>
        <p:spPr>
          <a:xfrm>
            <a:off x="3840480" y="465429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197.43K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840480" y="48646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9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458968" y="4681728"/>
            <a:ext cx="36576" cy="310896"/>
          </a:xfrm>
          <a:prstGeom prst="rect">
            <a:avLst/>
          </a:prstGeom>
          <a:solidFill>
            <a:srgbClr val="331100"/>
          </a:solidFill>
          <a:ln/>
        </p:spPr>
      </p:sp>
      <p:sp>
        <p:nvSpPr>
          <p:cNvPr id="18" name="Text 15"/>
          <p:cNvSpPr/>
          <p:nvPr/>
        </p:nvSpPr>
        <p:spPr>
          <a:xfrm>
            <a:off x="5623560" y="465429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623560" y="48646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9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7242048" y="4681728"/>
            <a:ext cx="36576" cy="310896"/>
          </a:xfrm>
          <a:prstGeom prst="rect">
            <a:avLst/>
          </a:prstGeom>
          <a:solidFill>
            <a:srgbClr val="331100"/>
          </a:solidFill>
          <a:ln/>
        </p:spPr>
      </p:sp>
      <p:sp>
        <p:nvSpPr>
          <p:cNvPr id="21" name="Text 18"/>
          <p:cNvSpPr/>
          <p:nvPr/>
        </p:nvSpPr>
        <p:spPr>
          <a:xfrm>
            <a:off x="7406640" y="465429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5.59M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406640" y="48646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9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9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Amankumar Bhatu  |  Swiggy Analytics Capstone  |  Microsoft Fabric + SQL + Power BI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A0D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96012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206240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EED5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64008" cy="1170432"/>
          </a:xfrm>
          <a:prstGeom prst="rect">
            <a:avLst/>
          </a:prstGeom>
          <a:solidFill>
            <a:srgbClr val="6B1900"/>
          </a:solidFill>
          <a:ln/>
        </p:spPr>
      </p:sp>
      <p:sp>
        <p:nvSpPr>
          <p:cNvPr id="8" name="Shape 6"/>
          <p:cNvSpPr/>
          <p:nvPr/>
        </p:nvSpPr>
        <p:spPr>
          <a:xfrm>
            <a:off x="484632" y="1335024"/>
            <a:ext cx="658368" cy="658368"/>
          </a:xfrm>
          <a:prstGeom prst="ellipse">
            <a:avLst/>
          </a:prstGeom>
          <a:solidFill>
            <a:srgbClr val="6B190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493776" cy="4937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52728" y="1207008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1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#1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52728" y="1627632"/>
            <a:ext cx="3127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state at ₹5.5M — nearly double Uttar Pradesh (₹3.1M)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754880" y="1115568"/>
            <a:ext cx="4206240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EED5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115568"/>
            <a:ext cx="64008" cy="1170432"/>
          </a:xfrm>
          <a:prstGeom prst="rect">
            <a:avLst/>
          </a:prstGeom>
          <a:solidFill>
            <a:srgbClr val="8B3300"/>
          </a:solidFill>
          <a:ln/>
        </p:spPr>
      </p:sp>
      <p:sp>
        <p:nvSpPr>
          <p:cNvPr id="14" name="Shape 11"/>
          <p:cNvSpPr/>
          <p:nvPr/>
        </p:nvSpPr>
        <p:spPr>
          <a:xfrm>
            <a:off x="4919472" y="1335024"/>
            <a:ext cx="658368" cy="658368"/>
          </a:xfrm>
          <a:prstGeom prst="ellipse">
            <a:avLst/>
          </a:prstGeom>
          <a:solidFill>
            <a:srgbClr val="8B330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417320"/>
            <a:ext cx="493776" cy="4937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87568" y="1207008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KFC leads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687568" y="1627632"/>
            <a:ext cx="3127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restaurant at ₹4.2M — McDonald's ₹3.3M, Pizza Hut ₹2.1M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20040" y="2414016"/>
            <a:ext cx="4206240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EED5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2414016"/>
            <a:ext cx="64008" cy="1170432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20" name="Shape 16"/>
          <p:cNvSpPr/>
          <p:nvPr/>
        </p:nvSpPr>
        <p:spPr>
          <a:xfrm>
            <a:off x="484632" y="2633472"/>
            <a:ext cx="658368" cy="658368"/>
          </a:xfrm>
          <a:prstGeom prst="ellipse">
            <a:avLst/>
          </a:prstGeom>
          <a:solidFill>
            <a:srgbClr val="E8601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715768"/>
            <a:ext cx="493776" cy="49377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52728" y="2505456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63.7% Veg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1252728" y="2926080"/>
            <a:ext cx="3127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revenue from veg (₹33.77M) vs non-veg (₹19.24M)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4754880" y="2414016"/>
            <a:ext cx="4206240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EED5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54880" y="2414016"/>
            <a:ext cx="64008" cy="1170432"/>
          </a:xfrm>
          <a:prstGeom prst="rect">
            <a:avLst/>
          </a:prstGeom>
          <a:solidFill>
            <a:srgbClr val="5A7A20"/>
          </a:solidFill>
          <a:ln/>
        </p:spPr>
      </p:sp>
      <p:sp>
        <p:nvSpPr>
          <p:cNvPr id="26" name="Shape 21"/>
          <p:cNvSpPr/>
          <p:nvPr/>
        </p:nvSpPr>
        <p:spPr>
          <a:xfrm>
            <a:off x="4919472" y="2633472"/>
            <a:ext cx="658368" cy="658368"/>
          </a:xfrm>
          <a:prstGeom prst="ellipse">
            <a:avLst/>
          </a:prstGeom>
          <a:solidFill>
            <a:srgbClr val="5A7A20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2715768"/>
            <a:ext cx="493776" cy="49377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87568" y="2505456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7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4.34 Rating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5687568" y="2926080"/>
            <a:ext cx="3127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satisfaction with 5.59M total rating interactions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320040" y="3712464"/>
            <a:ext cx="4206240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EED5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0040" y="3712464"/>
            <a:ext cx="64008" cy="117043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2" name="Shape 26"/>
          <p:cNvSpPr/>
          <p:nvPr/>
        </p:nvSpPr>
        <p:spPr>
          <a:xfrm>
            <a:off x="484632" y="3931920"/>
            <a:ext cx="658368" cy="658368"/>
          </a:xfrm>
          <a:prstGeom prst="ellipse">
            <a:avLst/>
          </a:prstGeom>
          <a:solidFill>
            <a:srgbClr val="003366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014216"/>
            <a:ext cx="493776" cy="49377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252728" y="3803904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Peak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1252728" y="4224528"/>
            <a:ext cx="3127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order day — May &amp; August peak months at ₹6.79M each</a:t>
            </a:r>
            <a:endParaRPr lang="en-US" sz="850" dirty="0"/>
          </a:p>
        </p:txBody>
      </p:sp>
      <p:sp>
        <p:nvSpPr>
          <p:cNvPr id="36" name="Shape 29"/>
          <p:cNvSpPr/>
          <p:nvPr/>
        </p:nvSpPr>
        <p:spPr>
          <a:xfrm>
            <a:off x="4754880" y="3712464"/>
            <a:ext cx="4206240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EED5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754880" y="3712464"/>
            <a:ext cx="64008" cy="1170432"/>
          </a:xfrm>
          <a:prstGeom prst="rect">
            <a:avLst/>
          </a:prstGeom>
          <a:solidFill>
            <a:srgbClr val="4A006A"/>
          </a:solidFill>
          <a:ln/>
        </p:spPr>
      </p:sp>
      <p:sp>
        <p:nvSpPr>
          <p:cNvPr id="38" name="Shape 31"/>
          <p:cNvSpPr/>
          <p:nvPr/>
        </p:nvSpPr>
        <p:spPr>
          <a:xfrm>
            <a:off x="4919472" y="3931920"/>
            <a:ext cx="658368" cy="658368"/>
          </a:xfrm>
          <a:prstGeom prst="ellipse">
            <a:avLst/>
          </a:prstGeom>
          <a:solidFill>
            <a:srgbClr val="4A006A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4014216"/>
            <a:ext cx="493776" cy="49377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687568" y="3803904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0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₹268.51 AOV</a:t>
            </a:r>
            <a:endParaRPr lang="en-US" sz="1500" dirty="0"/>
          </a:p>
        </p:txBody>
      </p:sp>
      <p:sp>
        <p:nvSpPr>
          <p:cNvPr id="41" name="Text 33"/>
          <p:cNvSpPr/>
          <p:nvPr/>
        </p:nvSpPr>
        <p:spPr>
          <a:xfrm>
            <a:off x="5687568" y="4224528"/>
            <a:ext cx="3127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average order value across India's diverse food market</a:t>
            </a:r>
            <a:endParaRPr lang="en-US" sz="850" dirty="0"/>
          </a:p>
        </p:txBody>
      </p:sp>
      <p:sp>
        <p:nvSpPr>
          <p:cNvPr id="42" name="Text 34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Amankumar Bhatu  |  Swiggy Analytics Capstone  |  Microsoft Fabric + SQL + Power BI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B1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A0D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Skills Demonstrated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96012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206240" cy="566928"/>
          </a:xfrm>
          <a:prstGeom prst="rect">
            <a:avLst/>
          </a:prstGeom>
          <a:solidFill>
            <a:srgbClr val="4A0E00"/>
          </a:solidFill>
          <a:ln w="12700">
            <a:solidFill>
              <a:srgbClr val="7733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566928"/>
          </a:xfrm>
          <a:prstGeom prst="rect">
            <a:avLst/>
          </a:prstGeom>
          <a:solidFill>
            <a:srgbClr val="E8601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25296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143000"/>
            <a:ext cx="3639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&amp; Capacity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1399032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Swiggy_Project workspace with Fabric trial capacity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74320" y="1746504"/>
            <a:ext cx="4206240" cy="566928"/>
          </a:xfrm>
          <a:prstGeom prst="rect">
            <a:avLst/>
          </a:prstGeom>
          <a:solidFill>
            <a:srgbClr val="4A0E00"/>
          </a:solidFill>
          <a:ln w="12700">
            <a:solidFill>
              <a:srgbClr val="77332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1746504"/>
            <a:ext cx="54864" cy="566928"/>
          </a:xfrm>
          <a:prstGeom prst="rect">
            <a:avLst/>
          </a:prstGeom>
          <a:solidFill>
            <a:srgbClr val="E8601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745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" y="1792224"/>
            <a:ext cx="3639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(OneLake)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731520" y="2048256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CSV files, converted to ACID Delta/Parquet tables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274320" y="2395728"/>
            <a:ext cx="4206240" cy="566928"/>
          </a:xfrm>
          <a:prstGeom prst="rect">
            <a:avLst/>
          </a:prstGeom>
          <a:solidFill>
            <a:srgbClr val="4A0E00"/>
          </a:solidFill>
          <a:ln w="12700">
            <a:solidFill>
              <a:srgbClr val="77332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74320" y="2395728"/>
            <a:ext cx="54864" cy="566928"/>
          </a:xfrm>
          <a:prstGeom prst="rect">
            <a:avLst/>
          </a:prstGeom>
          <a:solidFill>
            <a:srgbClr val="E8601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52374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1520" y="2441448"/>
            <a:ext cx="3639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Analytics Endpoint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731520" y="2697480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record validation inside Lakehouse without leaving Fabric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274320" y="3044952"/>
            <a:ext cx="4206240" cy="566928"/>
          </a:xfrm>
          <a:prstGeom prst="rect">
            <a:avLst/>
          </a:prstGeom>
          <a:solidFill>
            <a:srgbClr val="4A0E00"/>
          </a:solidFill>
          <a:ln w="12700">
            <a:solidFill>
              <a:srgbClr val="77332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274320" y="3044952"/>
            <a:ext cx="54864" cy="566928"/>
          </a:xfrm>
          <a:prstGeom prst="rect">
            <a:avLst/>
          </a:prstGeom>
          <a:solidFill>
            <a:srgbClr val="E8601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172968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1520" y="3090672"/>
            <a:ext cx="3639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731520" y="3346704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pipelines — 5 parallel Copy Data activities via ADLS Gen2</a:t>
            </a:r>
            <a:endParaRPr lang="en-US" sz="750" dirty="0"/>
          </a:p>
        </p:txBody>
      </p:sp>
      <p:sp>
        <p:nvSpPr>
          <p:cNvPr id="26" name="Shape 20"/>
          <p:cNvSpPr/>
          <p:nvPr/>
        </p:nvSpPr>
        <p:spPr>
          <a:xfrm>
            <a:off x="274320" y="3694176"/>
            <a:ext cx="4206240" cy="566928"/>
          </a:xfrm>
          <a:prstGeom prst="rect">
            <a:avLst/>
          </a:prstGeom>
          <a:solidFill>
            <a:srgbClr val="4A0E00"/>
          </a:solidFill>
          <a:ln w="12700">
            <a:solidFill>
              <a:srgbClr val="77332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274320" y="3694176"/>
            <a:ext cx="54864" cy="566928"/>
          </a:xfrm>
          <a:prstGeom prst="rect">
            <a:avLst/>
          </a:prstGeom>
          <a:solidFill>
            <a:srgbClr val="E8601C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822192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31520" y="3739896"/>
            <a:ext cx="3639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(T-SQL)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731520" y="3995928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creation + ALTER TABLE data fix + schema-qualified queries</a:t>
            </a:r>
            <a:endParaRPr lang="en-US" sz="750" dirty="0"/>
          </a:p>
        </p:txBody>
      </p:sp>
      <p:sp>
        <p:nvSpPr>
          <p:cNvPr id="31" name="Shape 24"/>
          <p:cNvSpPr/>
          <p:nvPr/>
        </p:nvSpPr>
        <p:spPr>
          <a:xfrm>
            <a:off x="274320" y="4343400"/>
            <a:ext cx="4206240" cy="566928"/>
          </a:xfrm>
          <a:prstGeom prst="rect">
            <a:avLst/>
          </a:prstGeom>
          <a:solidFill>
            <a:srgbClr val="4A0E00"/>
          </a:solidFill>
          <a:ln w="12700">
            <a:solidFill>
              <a:srgbClr val="773322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274320" y="4343400"/>
            <a:ext cx="54864" cy="566928"/>
          </a:xfrm>
          <a:prstGeom prst="rect">
            <a:avLst/>
          </a:prstGeom>
          <a:solidFill>
            <a:srgbClr val="E8601C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4471416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31520" y="4389120"/>
            <a:ext cx="3639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731520" y="4645152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 layering across Files, Tables, Warehouse</a:t>
            </a:r>
            <a:endParaRPr lang="en-US" sz="750" dirty="0"/>
          </a:p>
        </p:txBody>
      </p:sp>
      <p:sp>
        <p:nvSpPr>
          <p:cNvPr id="36" name="Shape 28"/>
          <p:cNvSpPr/>
          <p:nvPr/>
        </p:nvSpPr>
        <p:spPr>
          <a:xfrm>
            <a:off x="4754880" y="1097280"/>
            <a:ext cx="4206240" cy="566928"/>
          </a:xfrm>
          <a:prstGeom prst="rect">
            <a:avLst/>
          </a:prstGeom>
          <a:solidFill>
            <a:srgbClr val="4A0E00"/>
          </a:solidFill>
          <a:ln w="12700">
            <a:solidFill>
              <a:srgbClr val="773322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4754880" y="1097280"/>
            <a:ext cx="54864" cy="566928"/>
          </a:xfrm>
          <a:prstGeom prst="rect">
            <a:avLst/>
          </a:prstGeom>
          <a:solidFill>
            <a:srgbClr val="E8601C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1225296"/>
            <a:ext cx="274320" cy="27432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212080" y="1143000"/>
            <a:ext cx="3639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DirectQuery Semantic Model</a:t>
            </a:r>
            <a:endParaRPr lang="en-US" sz="950" dirty="0"/>
          </a:p>
        </p:txBody>
      </p:sp>
      <p:sp>
        <p:nvSpPr>
          <p:cNvPr id="40" name="Text 31"/>
          <p:cNvSpPr/>
          <p:nvPr/>
        </p:nvSpPr>
        <p:spPr>
          <a:xfrm>
            <a:off x="5212080" y="1399032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connected to Fabric Warehouse, model published to workspace</a:t>
            </a:r>
            <a:endParaRPr lang="en-US" sz="750" dirty="0"/>
          </a:p>
        </p:txBody>
      </p:sp>
      <p:sp>
        <p:nvSpPr>
          <p:cNvPr id="41" name="Shape 32"/>
          <p:cNvSpPr/>
          <p:nvPr/>
        </p:nvSpPr>
        <p:spPr>
          <a:xfrm>
            <a:off x="4754880" y="1746504"/>
            <a:ext cx="4206240" cy="566928"/>
          </a:xfrm>
          <a:prstGeom prst="rect">
            <a:avLst/>
          </a:prstGeom>
          <a:solidFill>
            <a:srgbClr val="4A0E00"/>
          </a:solidFill>
          <a:ln w="12700">
            <a:solidFill>
              <a:srgbClr val="773322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4754880" y="1746504"/>
            <a:ext cx="54864" cy="566928"/>
          </a:xfrm>
          <a:prstGeom prst="rect">
            <a:avLst/>
          </a:prstGeom>
          <a:solidFill>
            <a:srgbClr val="E8601C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1874520"/>
            <a:ext cx="274320" cy="27432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5212080" y="1792224"/>
            <a:ext cx="3639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&amp; Columns</a:t>
            </a:r>
            <a:endParaRPr lang="en-US" sz="950" dirty="0"/>
          </a:p>
        </p:txBody>
      </p:sp>
      <p:sp>
        <p:nvSpPr>
          <p:cNvPr id="45" name="Text 35"/>
          <p:cNvSpPr/>
          <p:nvPr/>
        </p:nvSpPr>
        <p:spPr>
          <a:xfrm>
            <a:off x="5212080" y="2048256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 measures + 6 time/classification calculated columns</a:t>
            </a:r>
            <a:endParaRPr lang="en-US" sz="750" dirty="0"/>
          </a:p>
        </p:txBody>
      </p:sp>
      <p:sp>
        <p:nvSpPr>
          <p:cNvPr id="46" name="Shape 36"/>
          <p:cNvSpPr/>
          <p:nvPr/>
        </p:nvSpPr>
        <p:spPr>
          <a:xfrm>
            <a:off x="4754880" y="2395728"/>
            <a:ext cx="4206240" cy="566928"/>
          </a:xfrm>
          <a:prstGeom prst="rect">
            <a:avLst/>
          </a:prstGeom>
          <a:solidFill>
            <a:srgbClr val="4A0E00"/>
          </a:solidFill>
          <a:ln w="12700">
            <a:solidFill>
              <a:srgbClr val="773322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4754880" y="2395728"/>
            <a:ext cx="54864" cy="566928"/>
          </a:xfrm>
          <a:prstGeom prst="rect">
            <a:avLst/>
          </a:prstGeom>
          <a:solidFill>
            <a:srgbClr val="E8601C"/>
          </a:solidFill>
          <a:ln/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4608" y="2523744"/>
            <a:ext cx="274320" cy="27432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5212080" y="2441448"/>
            <a:ext cx="3639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</a:t>
            </a:r>
            <a:endParaRPr lang="en-US" sz="950" dirty="0"/>
          </a:p>
        </p:txBody>
      </p:sp>
      <p:sp>
        <p:nvSpPr>
          <p:cNvPr id="50" name="Text 39"/>
          <p:cNvSpPr/>
          <p:nvPr/>
        </p:nvSpPr>
        <p:spPr>
          <a:xfrm>
            <a:off x="5212080" y="2697480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one-to-many relationships between fact and dimension tables</a:t>
            </a:r>
            <a:endParaRPr lang="en-US" sz="750" dirty="0"/>
          </a:p>
        </p:txBody>
      </p:sp>
      <p:sp>
        <p:nvSpPr>
          <p:cNvPr id="51" name="Shape 40"/>
          <p:cNvSpPr/>
          <p:nvPr/>
        </p:nvSpPr>
        <p:spPr>
          <a:xfrm>
            <a:off x="4754880" y="3044952"/>
            <a:ext cx="4206240" cy="566928"/>
          </a:xfrm>
          <a:prstGeom prst="rect">
            <a:avLst/>
          </a:prstGeom>
          <a:solidFill>
            <a:srgbClr val="4A0E00"/>
          </a:solidFill>
          <a:ln w="12700">
            <a:solidFill>
              <a:srgbClr val="773322"/>
            </a:solidFill>
            <a:prstDash val="solid"/>
          </a:ln>
        </p:spPr>
      </p:sp>
      <p:sp>
        <p:nvSpPr>
          <p:cNvPr id="52" name="Shape 41"/>
          <p:cNvSpPr/>
          <p:nvPr/>
        </p:nvSpPr>
        <p:spPr>
          <a:xfrm>
            <a:off x="4754880" y="3044952"/>
            <a:ext cx="54864" cy="566928"/>
          </a:xfrm>
          <a:prstGeom prst="rect">
            <a:avLst/>
          </a:prstGeom>
          <a:solidFill>
            <a:srgbClr val="E8601C"/>
          </a:solidFill>
          <a:ln/>
        </p:spPr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4608" y="3172968"/>
            <a:ext cx="274320" cy="274320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5212080" y="3090672"/>
            <a:ext cx="3639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950" dirty="0"/>
          </a:p>
        </p:txBody>
      </p:sp>
      <p:sp>
        <p:nvSpPr>
          <p:cNvPr id="55" name="Text 43"/>
          <p:cNvSpPr/>
          <p:nvPr/>
        </p:nvSpPr>
        <p:spPr>
          <a:xfrm>
            <a:off x="5212080" y="3346704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8-visual dashboard — KPIs, trends, top-N charts, 4 slicers</a:t>
            </a:r>
            <a:endParaRPr lang="en-US" sz="750" dirty="0"/>
          </a:p>
        </p:txBody>
      </p:sp>
      <p:sp>
        <p:nvSpPr>
          <p:cNvPr id="56" name="Shape 44"/>
          <p:cNvSpPr/>
          <p:nvPr/>
        </p:nvSpPr>
        <p:spPr>
          <a:xfrm>
            <a:off x="4754880" y="3694176"/>
            <a:ext cx="4206240" cy="566928"/>
          </a:xfrm>
          <a:prstGeom prst="rect">
            <a:avLst/>
          </a:prstGeom>
          <a:solidFill>
            <a:srgbClr val="4A0E00"/>
          </a:solidFill>
          <a:ln w="12700">
            <a:solidFill>
              <a:srgbClr val="773322"/>
            </a:solidFill>
            <a:prstDash val="solid"/>
          </a:ln>
        </p:spPr>
      </p:sp>
      <p:sp>
        <p:nvSpPr>
          <p:cNvPr id="57" name="Shape 45"/>
          <p:cNvSpPr/>
          <p:nvPr/>
        </p:nvSpPr>
        <p:spPr>
          <a:xfrm>
            <a:off x="4754880" y="3694176"/>
            <a:ext cx="54864" cy="566928"/>
          </a:xfrm>
          <a:prstGeom prst="rect">
            <a:avLst/>
          </a:prstGeom>
          <a:solidFill>
            <a:srgbClr val="E8601C"/>
          </a:solidFill>
          <a:ln/>
        </p:spPr>
      </p:sp>
      <p:pic>
        <p:nvPicPr>
          <p:cNvPr id="5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4608" y="3822192"/>
            <a:ext cx="274320" cy="274320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5212080" y="3739896"/>
            <a:ext cx="3639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Publishing to Fabric</a:t>
            </a:r>
            <a:endParaRPr lang="en-US" sz="950" dirty="0"/>
          </a:p>
        </p:txBody>
      </p:sp>
      <p:sp>
        <p:nvSpPr>
          <p:cNvPr id="60" name="Text 47"/>
          <p:cNvSpPr/>
          <p:nvPr/>
        </p:nvSpPr>
        <p:spPr>
          <a:xfrm>
            <a:off x="5212080" y="3995928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.pbix to Fabric workspace — accessible live via browser</a:t>
            </a:r>
            <a:endParaRPr lang="en-US" sz="750" dirty="0"/>
          </a:p>
        </p:txBody>
      </p:sp>
      <p:sp>
        <p:nvSpPr>
          <p:cNvPr id="61" name="Text 48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9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Amankumar Bhatu  |  Swiggy Analytics Capstone  |  Microsoft Fabric + SQL + Power BI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B1900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2286000"/>
            <a:ext cx="3474720" cy="3474720"/>
          </a:xfrm>
          <a:prstGeom prst="ellipse">
            <a:avLst/>
          </a:prstGeom>
          <a:solidFill>
            <a:srgbClr val="150400"/>
          </a:solidFill>
          <a:ln w="12700">
            <a:solidFill>
              <a:srgbClr val="2A08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91440"/>
            <a:ext cx="2194560" cy="2194560"/>
          </a:xfrm>
          <a:prstGeom prst="ellipse">
            <a:avLst/>
          </a:prstGeom>
          <a:solidFill>
            <a:srgbClr val="100300"/>
          </a:solidFill>
          <a:ln w="12700">
            <a:solidFill>
              <a:srgbClr val="220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84048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Amankumar Bhatu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19933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7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Analytics Track  |  March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423160"/>
            <a:ext cx="2286000" cy="27432"/>
          </a:xfrm>
          <a:prstGeom prst="rect">
            <a:avLst/>
          </a:prstGeom>
          <a:solidFill>
            <a:srgbClr val="55332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57860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25603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Fabric pipeline — Bronze to Gold layer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99923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32688" y="298094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 cleaning — ALTER + TRY_CONVERT date fix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1985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2688" y="340156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— 4 active relationships in semantic model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840480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2688" y="3822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8-visual Power BI dashboard published to Fabric workspace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594360" y="4315968"/>
            <a:ext cx="1645920" cy="347472"/>
          </a:xfrm>
          <a:prstGeom prst="rect">
            <a:avLst/>
          </a:prstGeom>
          <a:solidFill>
            <a:srgbClr val="6B1900"/>
          </a:solidFill>
          <a:ln w="12700">
            <a:solidFill>
              <a:srgbClr val="77332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94360" y="43159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2377440" y="4315968"/>
            <a:ext cx="1645920" cy="347472"/>
          </a:xfrm>
          <a:prstGeom prst="rect">
            <a:avLst/>
          </a:prstGeom>
          <a:solidFill>
            <a:srgbClr val="6B1900"/>
          </a:solidFill>
          <a:ln w="12700">
            <a:solidFill>
              <a:srgbClr val="77332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2377440" y="43159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4160520" y="4315968"/>
            <a:ext cx="1645920" cy="347472"/>
          </a:xfrm>
          <a:prstGeom prst="rect">
            <a:avLst/>
          </a:prstGeom>
          <a:solidFill>
            <a:srgbClr val="6B1900"/>
          </a:solidFill>
          <a:ln w="12700">
            <a:solidFill>
              <a:srgbClr val="77332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160520" y="43159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594360" y="4718304"/>
            <a:ext cx="1645920" cy="347472"/>
          </a:xfrm>
          <a:prstGeom prst="rect">
            <a:avLst/>
          </a:prstGeom>
          <a:solidFill>
            <a:srgbClr val="6B1900"/>
          </a:solidFill>
          <a:ln w="12700">
            <a:solidFill>
              <a:srgbClr val="77332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94360" y="47183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/ Parquet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377440" y="4718304"/>
            <a:ext cx="1645920" cy="347472"/>
          </a:xfrm>
          <a:prstGeom prst="rect">
            <a:avLst/>
          </a:prstGeom>
          <a:solidFill>
            <a:srgbClr val="6B1900"/>
          </a:solidFill>
          <a:ln w="12700">
            <a:solidFill>
              <a:srgbClr val="77332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2377440" y="47183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160520" y="4718304"/>
            <a:ext cx="1645920" cy="347472"/>
          </a:xfrm>
          <a:prstGeom prst="rect">
            <a:avLst/>
          </a:prstGeom>
          <a:solidFill>
            <a:srgbClr val="6B1900"/>
          </a:solidFill>
          <a:ln w="12700">
            <a:solidFill>
              <a:srgbClr val="773322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160520" y="47183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Gen2</a:t>
            </a:r>
            <a:endParaRPr lang="en-US" sz="9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554480"/>
            <a:ext cx="1280160" cy="12801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400800" y="29260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spc="200" kern="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6400800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7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parts delivered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7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Swiggy Data Analysis — Capstone Project</dc:title>
  <dc:subject>PptxGenJS Presentation</dc:subject>
  <dc:creator>Amankumar Bhatu</dc:creator>
  <cp:lastModifiedBy>Amankumar Bhatu</cp:lastModifiedBy>
  <cp:revision>1</cp:revision>
  <dcterms:created xsi:type="dcterms:W3CDTF">2026-03-27T11:58:03Z</dcterms:created>
  <dcterms:modified xsi:type="dcterms:W3CDTF">2026-03-27T11:58:03Z</dcterms:modified>
</cp:coreProperties>
</file>